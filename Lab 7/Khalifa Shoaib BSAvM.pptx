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0" d="100"/>
          <a:sy n="100" d="100"/>
        </p:scale>
        <p:origin x="96"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1B2A5-AFAB-4076-8FE0-8C4AB65163F2}" type="datetimeFigureOut">
              <a:rPr lang="en-PK" smtClean="0"/>
              <a:t>10/27/2025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F8AF5-4C57-43EE-8F46-42D3683B1B05}" type="slidenum">
              <a:rPr lang="en-PK" smtClean="0"/>
              <a:t>‹#›</a:t>
            </a:fld>
            <a:endParaRPr lang="en-PK"/>
          </a:p>
        </p:txBody>
      </p:sp>
    </p:spTree>
    <p:extLst>
      <p:ext uri="{BB962C8B-B14F-4D97-AF65-F5344CB8AC3E}">
        <p14:creationId xmlns:p14="http://schemas.microsoft.com/office/powerpoint/2010/main" val="3078938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12F8AF5-4C57-43EE-8F46-42D3683B1B05}" type="slidenum">
              <a:rPr lang="en-PK" smtClean="0"/>
              <a:t>1</a:t>
            </a:fld>
            <a:endParaRPr lang="en-PK"/>
          </a:p>
        </p:txBody>
      </p:sp>
    </p:spTree>
    <p:extLst>
      <p:ext uri="{BB962C8B-B14F-4D97-AF65-F5344CB8AC3E}">
        <p14:creationId xmlns:p14="http://schemas.microsoft.com/office/powerpoint/2010/main" val="1456970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8F05-21D6-1EA7-7A38-2900BC5A16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287523E-39C5-65D5-8BEC-59E4F9B621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085C074-C536-480F-F8BD-BCCF6D6A98A7}"/>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5" name="Footer Placeholder 4">
            <a:extLst>
              <a:ext uri="{FF2B5EF4-FFF2-40B4-BE49-F238E27FC236}">
                <a16:creationId xmlns:a16="http://schemas.microsoft.com/office/drawing/2014/main" id="{97A21EC6-6064-7EEC-8EC3-8259C7273F7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31A49A3-7D6E-AF9F-C566-1423CECC6CE0}"/>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451483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763D3-71D4-ADBB-60F4-B11CD8677694}"/>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6180AC0-5317-EE3E-B49E-E2C6645FDC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6EA6D1-665A-BAD0-6D57-A3F4FF444B4A}"/>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5" name="Footer Placeholder 4">
            <a:extLst>
              <a:ext uri="{FF2B5EF4-FFF2-40B4-BE49-F238E27FC236}">
                <a16:creationId xmlns:a16="http://schemas.microsoft.com/office/drawing/2014/main" id="{C04C4C07-F106-303D-EC9D-27990C8E846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4E4A3C7-A7BC-B519-6264-536F1E9CCD7E}"/>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3250787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FBB27-455D-0CD9-F7A3-2504886D77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75C5F69-5694-64C7-9F1E-11072BD61B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2AB26D-BAB1-C908-0491-D76B1366286D}"/>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5" name="Footer Placeholder 4">
            <a:extLst>
              <a:ext uri="{FF2B5EF4-FFF2-40B4-BE49-F238E27FC236}">
                <a16:creationId xmlns:a16="http://schemas.microsoft.com/office/drawing/2014/main" id="{0591771B-9785-7B7C-2666-5DF3630D248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3F7CFE5-27AC-9302-16B7-87A19E45B196}"/>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2972444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48930-BACE-638C-EF0B-6FB3AFF7C80B}"/>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10B80F2-9CCF-77B1-F2B3-1A581BB0FD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720DADB-C947-0527-EF7F-1FBE32837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68220B8E-2274-273E-9E42-A6D190CBEB2C}"/>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6" name="Footer Placeholder 5">
            <a:extLst>
              <a:ext uri="{FF2B5EF4-FFF2-40B4-BE49-F238E27FC236}">
                <a16:creationId xmlns:a16="http://schemas.microsoft.com/office/drawing/2014/main" id="{159F8E9E-4ED2-489B-1C6D-B4FBFC4BFF7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6F22BE9D-8323-7748-87E7-23D52C9E51CA}"/>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2914520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CBC0E-AF9B-1D47-75EE-173833901F75}"/>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26227A0-BBE1-A3C7-7CF5-9A054F63F1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F08080-3829-43E6-2EDC-7E6C37F6E0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6B7FAB70-5686-321F-D3CC-9AE131E799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F06F1A-E48E-B5FE-BE90-BB92500DB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FCEC35B9-5970-E7FD-0094-88A386878D4C}"/>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8" name="Footer Placeholder 7">
            <a:extLst>
              <a:ext uri="{FF2B5EF4-FFF2-40B4-BE49-F238E27FC236}">
                <a16:creationId xmlns:a16="http://schemas.microsoft.com/office/drawing/2014/main" id="{50C0D08D-B0FF-696B-8727-ECDF0F78808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70E25D6D-6DDD-7839-16FB-DAC14450860C}"/>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284043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F8956-E169-3675-AFFF-35EC95A1938D}"/>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1C9425F-945A-9833-16CE-94265B6DD1FB}"/>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4" name="Footer Placeholder 3">
            <a:extLst>
              <a:ext uri="{FF2B5EF4-FFF2-40B4-BE49-F238E27FC236}">
                <a16:creationId xmlns:a16="http://schemas.microsoft.com/office/drawing/2014/main" id="{15E13270-88E6-BFA4-5305-C4CFC3B6B05D}"/>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34FB50B8-EE92-030E-C919-58A94C25D6EE}"/>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2499722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E4588E-3B3B-413B-F996-FCD36ED825AF}"/>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3" name="Footer Placeholder 2">
            <a:extLst>
              <a:ext uri="{FF2B5EF4-FFF2-40B4-BE49-F238E27FC236}">
                <a16:creationId xmlns:a16="http://schemas.microsoft.com/office/drawing/2014/main" id="{417267D9-E7E7-A943-EF50-64E4B85B7834}"/>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40EFC862-45E9-5637-3135-7EC453DDA658}"/>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4009218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106A4-DCD6-CA8F-5E97-21B3CA4F7F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02960DC-B711-9DC3-C010-D4FC59E50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72689A6B-9ECF-AFFF-B239-882A76968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3E582E-C91A-8EBA-1DAD-D4DAC18907D0}"/>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6" name="Footer Placeholder 5">
            <a:extLst>
              <a:ext uri="{FF2B5EF4-FFF2-40B4-BE49-F238E27FC236}">
                <a16:creationId xmlns:a16="http://schemas.microsoft.com/office/drawing/2014/main" id="{288960DA-1279-8B74-4AA7-82CC0B5D11D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4DD7E64-C443-2473-F654-8D054AFC7FD2}"/>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2810062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5720-00D0-9F94-473A-5870342C5D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FE10DEF-2D4B-96FA-8A9A-6B2B8CB27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49941A8-2D69-3405-93CC-AC301047C8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D8E9A-CEB3-1CB4-AEA6-272486A37799}"/>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6" name="Footer Placeholder 5">
            <a:extLst>
              <a:ext uri="{FF2B5EF4-FFF2-40B4-BE49-F238E27FC236}">
                <a16:creationId xmlns:a16="http://schemas.microsoft.com/office/drawing/2014/main" id="{0F7C60EC-A639-D8BF-FBD9-1FA329D1BA1E}"/>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686A4C50-9E8E-CC88-CDBB-63F5E4C5B783}"/>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4157064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35922-0C71-10CA-BB63-3F915665C48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00AE9E6-5D3F-A289-68C7-2F6AA3F6FE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EE1A9B7-2EE1-3E1B-B098-52B08DD8D7D8}"/>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5" name="Footer Placeholder 4">
            <a:extLst>
              <a:ext uri="{FF2B5EF4-FFF2-40B4-BE49-F238E27FC236}">
                <a16:creationId xmlns:a16="http://schemas.microsoft.com/office/drawing/2014/main" id="{62FA602D-BBA0-F03D-95DC-8AEDDFC2812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39C78A3-57D5-3EC9-801B-390B43613287}"/>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1736924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47E1BD-99B4-6B12-B0FE-D3AF7941C7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3D19B8F-5F36-69B2-4714-4A78F8D0D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5509101-0F8D-096C-36F9-DA159D8278EF}"/>
              </a:ext>
            </a:extLst>
          </p:cNvPr>
          <p:cNvSpPr>
            <a:spLocks noGrp="1"/>
          </p:cNvSpPr>
          <p:nvPr>
            <p:ph type="dt" sz="half" idx="10"/>
          </p:nvPr>
        </p:nvSpPr>
        <p:spPr/>
        <p:txBody>
          <a:bodyPr/>
          <a:lstStyle/>
          <a:p>
            <a:fld id="{90473775-A6BD-4FBA-AEE7-618D7F459840}" type="datetimeFigureOut">
              <a:rPr lang="en-PK" smtClean="0"/>
              <a:t>10/27/2025</a:t>
            </a:fld>
            <a:endParaRPr lang="en-PK"/>
          </a:p>
        </p:txBody>
      </p:sp>
      <p:sp>
        <p:nvSpPr>
          <p:cNvPr id="5" name="Footer Placeholder 4">
            <a:extLst>
              <a:ext uri="{FF2B5EF4-FFF2-40B4-BE49-F238E27FC236}">
                <a16:creationId xmlns:a16="http://schemas.microsoft.com/office/drawing/2014/main" id="{10A024F7-634C-18BB-8ECA-F9C0C36B414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AF2A08C-592C-71D2-E4A6-51CF4DCDB97C}"/>
              </a:ext>
            </a:extLst>
          </p:cNvPr>
          <p:cNvSpPr>
            <a:spLocks noGrp="1"/>
          </p:cNvSpPr>
          <p:nvPr>
            <p:ph type="sldNum" sz="quarter" idx="12"/>
          </p:nvPr>
        </p:nvSpPr>
        <p:spPr/>
        <p:txBody>
          <a:bodyPr/>
          <a:lstStyle/>
          <a:p>
            <a:fld id="{4B28F280-8B4D-4F3A-B1C5-9D79C17C14CD}" type="slidenum">
              <a:rPr lang="en-PK" smtClean="0"/>
              <a:t>‹#›</a:t>
            </a:fld>
            <a:endParaRPr lang="en-PK"/>
          </a:p>
        </p:txBody>
      </p:sp>
    </p:spTree>
    <p:extLst>
      <p:ext uri="{BB962C8B-B14F-4D97-AF65-F5344CB8AC3E}">
        <p14:creationId xmlns:p14="http://schemas.microsoft.com/office/powerpoint/2010/main" val="2807957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3E0D40-15FF-8F1B-3D31-23E38C1886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51160C5-7BA2-1C58-C3A5-B7D1DCA149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4608727-7DBC-8CBC-DCD9-C8BAC4FB98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473775-A6BD-4FBA-AEE7-618D7F459840}" type="datetimeFigureOut">
              <a:rPr lang="en-PK" smtClean="0"/>
              <a:t>10/27/2025</a:t>
            </a:fld>
            <a:endParaRPr lang="en-PK"/>
          </a:p>
        </p:txBody>
      </p:sp>
      <p:sp>
        <p:nvSpPr>
          <p:cNvPr id="5" name="Footer Placeholder 4">
            <a:extLst>
              <a:ext uri="{FF2B5EF4-FFF2-40B4-BE49-F238E27FC236}">
                <a16:creationId xmlns:a16="http://schemas.microsoft.com/office/drawing/2014/main" id="{80678C2C-FA67-5BEB-CCAB-835CB15044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3F620CBC-48BC-EC05-B466-F0D0CFCCF4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28F280-8B4D-4F3A-B1C5-9D79C17C14CD}" type="slidenum">
              <a:rPr lang="en-PK" smtClean="0"/>
              <a:t>‹#›</a:t>
            </a:fld>
            <a:endParaRPr lang="en-PK"/>
          </a:p>
        </p:txBody>
      </p:sp>
    </p:spTree>
    <p:extLst>
      <p:ext uri="{BB962C8B-B14F-4D97-AF65-F5344CB8AC3E}">
        <p14:creationId xmlns:p14="http://schemas.microsoft.com/office/powerpoint/2010/main" val="3293504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justsmile.co.uk/thank-you/"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erial view of parked airplane">
            <a:extLst>
              <a:ext uri="{FF2B5EF4-FFF2-40B4-BE49-F238E27FC236}">
                <a16:creationId xmlns:a16="http://schemas.microsoft.com/office/drawing/2014/main" id="{3D398E28-BBB1-6CD5-9277-A3F86A072CD1}"/>
              </a:ext>
            </a:extLst>
          </p:cNvPr>
          <p:cNvPicPr>
            <a:picLocks noChangeAspect="1"/>
          </p:cNvPicPr>
          <p:nvPr/>
        </p:nvPicPr>
        <p:blipFill>
          <a:blip r:embed="rId3">
            <a:alphaModFix amt="50000"/>
          </a:blip>
          <a:srcRect t="13920" b="1811"/>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AF0C2774-9CF4-AAE7-548C-78203C49A8D4}"/>
              </a:ext>
            </a:extLst>
          </p:cNvPr>
          <p:cNvSpPr>
            <a:spLocks noGrp="1"/>
          </p:cNvSpPr>
          <p:nvPr>
            <p:ph type="ctrTitle"/>
          </p:nvPr>
        </p:nvSpPr>
        <p:spPr>
          <a:xfrm>
            <a:off x="1524000" y="1122362"/>
            <a:ext cx="9144000" cy="2900518"/>
          </a:xfrm>
        </p:spPr>
        <p:txBody>
          <a:bodyPr>
            <a:normAutofit/>
          </a:bodyPr>
          <a:lstStyle/>
          <a:p>
            <a:r>
              <a:rPr lang="en-US" b="1" dirty="0">
                <a:solidFill>
                  <a:srgbClr val="FFCC00"/>
                </a:solidFill>
                <a:latin typeface="Bell MT" panose="02020503060305020303" pitchFamily="18" charset="0"/>
                <a:cs typeface="Dubai" panose="020B0503030403030204" pitchFamily="34" charset="-78"/>
              </a:rPr>
              <a:t>King Fahd International Airport</a:t>
            </a:r>
            <a:endParaRPr lang="en-PK" b="1" dirty="0">
              <a:solidFill>
                <a:srgbClr val="FFCC00"/>
              </a:solidFill>
              <a:latin typeface="Bell MT" panose="02020503060305020303" pitchFamily="18" charset="0"/>
              <a:cs typeface="Dubai" panose="020B0503030403030204" pitchFamily="34" charset="-78"/>
            </a:endParaRPr>
          </a:p>
        </p:txBody>
      </p:sp>
      <p:sp>
        <p:nvSpPr>
          <p:cNvPr id="3" name="Subtitle 2">
            <a:extLst>
              <a:ext uri="{FF2B5EF4-FFF2-40B4-BE49-F238E27FC236}">
                <a16:creationId xmlns:a16="http://schemas.microsoft.com/office/drawing/2014/main" id="{6506DB23-62CA-DD9B-7846-12D02E57C9C6}"/>
              </a:ext>
            </a:extLst>
          </p:cNvPr>
          <p:cNvSpPr>
            <a:spLocks noGrp="1"/>
          </p:cNvSpPr>
          <p:nvPr>
            <p:ph type="subTitle" idx="1"/>
          </p:nvPr>
        </p:nvSpPr>
        <p:spPr>
          <a:xfrm>
            <a:off x="1524000" y="4159404"/>
            <a:ext cx="9144000" cy="1098395"/>
          </a:xfrm>
        </p:spPr>
        <p:txBody>
          <a:bodyPr>
            <a:normAutofit/>
          </a:bodyPr>
          <a:lstStyle/>
          <a:p>
            <a:r>
              <a:rPr lang="en-US" dirty="0">
                <a:solidFill>
                  <a:schemeClr val="bg2">
                    <a:lumMod val="25000"/>
                    <a:lumOff val="75000"/>
                  </a:schemeClr>
                </a:solidFill>
                <a:latin typeface="Bell MT" panose="02020503060305020303" pitchFamily="18" charset="0"/>
              </a:rPr>
              <a:t>Khalifa Shoaib</a:t>
            </a:r>
            <a:br>
              <a:rPr lang="en-US" dirty="0">
                <a:solidFill>
                  <a:schemeClr val="bg2">
                    <a:lumMod val="25000"/>
                    <a:lumOff val="75000"/>
                  </a:schemeClr>
                </a:solidFill>
                <a:latin typeface="Bell MT" panose="02020503060305020303" pitchFamily="18" charset="0"/>
              </a:rPr>
            </a:br>
            <a:r>
              <a:rPr lang="en-US" dirty="0">
                <a:solidFill>
                  <a:schemeClr val="bg2">
                    <a:lumMod val="25000"/>
                    <a:lumOff val="75000"/>
                  </a:schemeClr>
                </a:solidFill>
                <a:latin typeface="Bell MT" panose="02020503060305020303" pitchFamily="18" charset="0"/>
              </a:rPr>
              <a:t>BSAvM-01</a:t>
            </a:r>
            <a:br>
              <a:rPr lang="en-US" dirty="0">
                <a:solidFill>
                  <a:schemeClr val="bg2">
                    <a:lumMod val="25000"/>
                    <a:lumOff val="75000"/>
                  </a:schemeClr>
                </a:solidFill>
                <a:latin typeface="Bell MT" panose="02020503060305020303" pitchFamily="18" charset="0"/>
              </a:rPr>
            </a:br>
            <a:r>
              <a:rPr lang="en-US" dirty="0">
                <a:solidFill>
                  <a:schemeClr val="bg2">
                    <a:lumMod val="25000"/>
                    <a:lumOff val="75000"/>
                  </a:schemeClr>
                </a:solidFill>
                <a:latin typeface="Bell MT" panose="02020503060305020303" pitchFamily="18" charset="0"/>
              </a:rPr>
              <a:t>2520247</a:t>
            </a:r>
            <a:endParaRPr lang="en-PK" dirty="0">
              <a:solidFill>
                <a:schemeClr val="bg2">
                  <a:lumMod val="25000"/>
                  <a:lumOff val="75000"/>
                </a:schemeClr>
              </a:solidFill>
              <a:latin typeface="Bell MT" panose="02020503060305020303" pitchFamily="18" charset="0"/>
            </a:endParaRPr>
          </a:p>
        </p:txBody>
      </p:sp>
      <p:pic>
        <p:nvPicPr>
          <p:cNvPr id="15" name="Picture 14" descr="A green flag with white text&#10;&#10;AI-generated content may be incorrect.">
            <a:extLst>
              <a:ext uri="{FF2B5EF4-FFF2-40B4-BE49-F238E27FC236}">
                <a16:creationId xmlns:a16="http://schemas.microsoft.com/office/drawing/2014/main" id="{4A2D7436-0F66-F9FE-5996-F3C22F21EC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7600" y="6202396"/>
            <a:ext cx="771786" cy="516437"/>
          </a:xfrm>
          <a:prstGeom prst="rect">
            <a:avLst/>
          </a:prstGeom>
        </p:spPr>
      </p:pic>
    </p:spTree>
    <p:extLst>
      <p:ext uri="{BB962C8B-B14F-4D97-AF65-F5344CB8AC3E}">
        <p14:creationId xmlns:p14="http://schemas.microsoft.com/office/powerpoint/2010/main" val="15949770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8" name="Arc 5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3" name="Freeform: Shape 6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9" name="Picture 28" descr="A large building with escalators and people">
            <a:extLst>
              <a:ext uri="{FF2B5EF4-FFF2-40B4-BE49-F238E27FC236}">
                <a16:creationId xmlns:a16="http://schemas.microsoft.com/office/drawing/2014/main" id="{BA194B7B-FA18-31D7-0F9A-09E2499790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182" y="1839253"/>
            <a:ext cx="4777381" cy="300975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1" name="TextBox 10">
            <a:extLst>
              <a:ext uri="{FF2B5EF4-FFF2-40B4-BE49-F238E27FC236}">
                <a16:creationId xmlns:a16="http://schemas.microsoft.com/office/drawing/2014/main" id="{6BB81FD7-A896-F442-4A78-DD8FEC096FEC}"/>
              </a:ext>
            </a:extLst>
          </p:cNvPr>
          <p:cNvSpPr txBox="1"/>
          <p:nvPr/>
        </p:nvSpPr>
        <p:spPr>
          <a:xfrm>
            <a:off x="5894962" y="1984443"/>
            <a:ext cx="5458838" cy="4192520"/>
          </a:xfrm>
          <a:prstGeom prst="rect">
            <a:avLst/>
          </a:prstGeom>
        </p:spPr>
        <p:txBody>
          <a:bodyPr vert="horz" lIns="91440" tIns="45720" rIns="91440" bIns="45720" rtlCol="0">
            <a:normAutofit/>
          </a:bodyPr>
          <a:lstStyle/>
          <a:p>
            <a:pPr algn="ctr">
              <a:lnSpc>
                <a:spcPct val="90000"/>
              </a:lnSpc>
              <a:spcAft>
                <a:spcPts val="600"/>
              </a:spcAft>
            </a:pPr>
            <a:r>
              <a:rPr lang="en-US" sz="2800" b="1" dirty="0"/>
              <a:t>Introduction</a:t>
            </a:r>
          </a:p>
          <a:p>
            <a:pPr>
              <a:lnSpc>
                <a:spcPct val="90000"/>
              </a:lnSpc>
              <a:spcAft>
                <a:spcPts val="600"/>
              </a:spcAft>
            </a:pPr>
            <a:br>
              <a:rPr lang="en-US" sz="1100" dirty="0"/>
            </a:br>
            <a:r>
              <a:rPr lang="en-US" sz="1100" b="1" dirty="0"/>
              <a:t>King Fahd International Airport (KFIA)</a:t>
            </a:r>
            <a:br>
              <a:rPr lang="en-US" sz="1100" b="1" dirty="0"/>
            </a:br>
            <a:r>
              <a:rPr lang="en-US" sz="1100" b="1" dirty="0"/>
              <a:t> </a:t>
            </a:r>
          </a:p>
          <a:p>
            <a:pPr marL="285750" indent="-228600">
              <a:lnSpc>
                <a:spcPct val="90000"/>
              </a:lnSpc>
              <a:spcAft>
                <a:spcPts val="600"/>
              </a:spcAft>
              <a:buFont typeface="Arial" panose="020B0604020202020204" pitchFamily="34" charset="0"/>
              <a:buChar char="•"/>
            </a:pPr>
            <a:r>
              <a:rPr lang="en-US" sz="1100" dirty="0"/>
              <a:t>King Fahd International Airport is one of the most important and advanced airports in Saudi Arabia.</a:t>
            </a:r>
          </a:p>
          <a:p>
            <a:pPr marL="285750" indent="-228600">
              <a:lnSpc>
                <a:spcPct val="90000"/>
              </a:lnSpc>
              <a:spcAft>
                <a:spcPts val="600"/>
              </a:spcAft>
              <a:buFont typeface="Arial" panose="020B0604020202020204" pitchFamily="34" charset="0"/>
              <a:buChar char="•"/>
            </a:pPr>
            <a:endParaRPr lang="en-US" sz="1100" dirty="0"/>
          </a:p>
          <a:p>
            <a:pPr marL="285750" indent="-228600">
              <a:lnSpc>
                <a:spcPct val="90000"/>
              </a:lnSpc>
              <a:spcAft>
                <a:spcPts val="600"/>
              </a:spcAft>
              <a:buFont typeface="Arial" panose="020B0604020202020204" pitchFamily="34" charset="0"/>
              <a:buChar char="•"/>
            </a:pPr>
            <a:r>
              <a:rPr lang="en-US" sz="1100" dirty="0"/>
              <a:t>It is located in Dammam, the capital of the Eastern Province.</a:t>
            </a:r>
          </a:p>
          <a:p>
            <a:pPr marL="285750" indent="-228600">
              <a:lnSpc>
                <a:spcPct val="90000"/>
              </a:lnSpc>
              <a:spcAft>
                <a:spcPts val="600"/>
              </a:spcAft>
              <a:buFont typeface="Arial" panose="020B0604020202020204" pitchFamily="34" charset="0"/>
              <a:buChar char="•"/>
            </a:pPr>
            <a:endParaRPr lang="en-US" sz="1100" dirty="0"/>
          </a:p>
          <a:p>
            <a:pPr marL="285750" indent="-228600">
              <a:lnSpc>
                <a:spcPct val="90000"/>
              </a:lnSpc>
              <a:spcAft>
                <a:spcPts val="600"/>
              </a:spcAft>
              <a:buFont typeface="Arial" panose="020B0604020202020204" pitchFamily="34" charset="0"/>
              <a:buChar char="•"/>
            </a:pPr>
            <a:r>
              <a:rPr lang="en-US" sz="1100" dirty="0"/>
              <a:t>The airport also serves nearby major cities such as Dhahran, Al Khobar, and Jubail.</a:t>
            </a:r>
          </a:p>
          <a:p>
            <a:pPr marL="285750" indent="-228600">
              <a:lnSpc>
                <a:spcPct val="90000"/>
              </a:lnSpc>
              <a:spcAft>
                <a:spcPts val="600"/>
              </a:spcAft>
              <a:buFont typeface="Arial" panose="020B0604020202020204" pitchFamily="34" charset="0"/>
              <a:buChar char="•"/>
            </a:pPr>
            <a:endParaRPr lang="en-US" sz="1100" dirty="0"/>
          </a:p>
          <a:p>
            <a:pPr marL="285750" indent="-228600">
              <a:lnSpc>
                <a:spcPct val="90000"/>
              </a:lnSpc>
              <a:spcAft>
                <a:spcPts val="600"/>
              </a:spcAft>
              <a:buFont typeface="Arial" panose="020B0604020202020204" pitchFamily="34" charset="0"/>
              <a:buChar char="•"/>
            </a:pPr>
            <a:r>
              <a:rPr lang="en-US" sz="1100" dirty="0"/>
              <a:t>KFIA is famous worldwide for being the largest airport by land area, covering 780 square kilometers of desert land.</a:t>
            </a:r>
          </a:p>
          <a:p>
            <a:pPr marL="285750" indent="-228600">
              <a:lnSpc>
                <a:spcPct val="90000"/>
              </a:lnSpc>
              <a:spcAft>
                <a:spcPts val="600"/>
              </a:spcAft>
              <a:buFont typeface="Arial" panose="020B0604020202020204" pitchFamily="34" charset="0"/>
              <a:buChar char="•"/>
            </a:pPr>
            <a:endParaRPr lang="en-US" sz="1100" dirty="0"/>
          </a:p>
          <a:p>
            <a:pPr marL="285750" indent="-228600">
              <a:lnSpc>
                <a:spcPct val="90000"/>
              </a:lnSpc>
              <a:spcAft>
                <a:spcPts val="600"/>
              </a:spcAft>
              <a:buFont typeface="Arial" panose="020B0604020202020204" pitchFamily="34" charset="0"/>
              <a:buChar char="•"/>
            </a:pPr>
            <a:r>
              <a:rPr lang="en-US" sz="1100" dirty="0"/>
              <a:t>It offers modern facilities, efficient services, and world-class infrastructure for travelers.</a:t>
            </a:r>
          </a:p>
          <a:p>
            <a:pPr marL="285750" indent="-228600">
              <a:lnSpc>
                <a:spcPct val="90000"/>
              </a:lnSpc>
              <a:spcAft>
                <a:spcPts val="600"/>
              </a:spcAft>
              <a:buFont typeface="Arial" panose="020B0604020202020204" pitchFamily="34" charset="0"/>
              <a:buChar char="•"/>
            </a:pPr>
            <a:endParaRPr lang="en-US" sz="1100" dirty="0"/>
          </a:p>
          <a:p>
            <a:pPr marL="285750" indent="-228600">
              <a:lnSpc>
                <a:spcPct val="90000"/>
              </a:lnSpc>
              <a:spcAft>
                <a:spcPts val="600"/>
              </a:spcAft>
              <a:buFont typeface="Arial" panose="020B0604020202020204" pitchFamily="34" charset="0"/>
              <a:buChar char="•"/>
            </a:pPr>
            <a:r>
              <a:rPr lang="en-US" sz="1100" dirty="0"/>
              <a:t>The airport plays a key role in connecting Saudi Arabia to international destinations, helping to grow tourism, trade, and business.</a:t>
            </a:r>
          </a:p>
        </p:txBody>
      </p:sp>
    </p:spTree>
    <p:extLst>
      <p:ext uri="{BB962C8B-B14F-4D97-AF65-F5344CB8AC3E}">
        <p14:creationId xmlns:p14="http://schemas.microsoft.com/office/powerpoint/2010/main" val="167562454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4" name="Rectangle 23">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pic>
        <p:nvPicPr>
          <p:cNvPr id="4" name="Picture 3" descr="A large building in the middle of a desert&#10;&#10;AI-generated content may be incorrect.">
            <a:extLst>
              <a:ext uri="{FF2B5EF4-FFF2-40B4-BE49-F238E27FC236}">
                <a16:creationId xmlns:a16="http://schemas.microsoft.com/office/drawing/2014/main" id="{8AC068C9-2AFB-8FDF-7034-232E8EC0B4C0}"/>
              </a:ext>
            </a:extLst>
          </p:cNvPr>
          <p:cNvPicPr>
            <a:picLocks noChangeAspect="1"/>
          </p:cNvPicPr>
          <p:nvPr/>
        </p:nvPicPr>
        <p:blipFill>
          <a:blip r:embed="rId3">
            <a:extLst>
              <a:ext uri="{28A0092B-C50C-407E-A947-70E740481C1C}">
                <a14:useLocalDpi xmlns:a14="http://schemas.microsoft.com/office/drawing/2010/main" val="0"/>
              </a:ext>
            </a:extLst>
          </a:blip>
          <a:srcRect t="6639"/>
          <a:stretch>
            <a:fillRect/>
          </a:stretch>
        </p:blipFill>
        <p:spPr>
          <a:xfrm>
            <a:off x="720807" y="1886647"/>
            <a:ext cx="5468347" cy="3075946"/>
          </a:xfrm>
          <a:prstGeom prst="rect">
            <a:avLst/>
          </a:prstGeom>
        </p:spPr>
      </p:pic>
      <p:sp>
        <p:nvSpPr>
          <p:cNvPr id="2" name="TextBox 1">
            <a:extLst>
              <a:ext uri="{FF2B5EF4-FFF2-40B4-BE49-F238E27FC236}">
                <a16:creationId xmlns:a16="http://schemas.microsoft.com/office/drawing/2014/main" id="{881FA2D2-DAB9-0893-1CE3-0592CD346348}"/>
              </a:ext>
            </a:extLst>
          </p:cNvPr>
          <p:cNvSpPr txBox="1"/>
          <p:nvPr/>
        </p:nvSpPr>
        <p:spPr>
          <a:xfrm>
            <a:off x="6551748" y="883295"/>
            <a:ext cx="4589328" cy="2987397"/>
          </a:xfrm>
          <a:prstGeom prst="rect">
            <a:avLst/>
          </a:prstGeom>
        </p:spPr>
        <p:txBody>
          <a:bodyPr vert="horz" lIns="91440" tIns="45720" rIns="91440" bIns="45720" rtlCol="0">
            <a:noAutofit/>
          </a:bodyPr>
          <a:lstStyle/>
          <a:p>
            <a:pPr algn="ctr">
              <a:lnSpc>
                <a:spcPct val="90000"/>
              </a:lnSpc>
              <a:spcAft>
                <a:spcPts val="600"/>
              </a:spcAft>
            </a:pPr>
            <a:r>
              <a:rPr lang="en-US" sz="1400" b="1" dirty="0"/>
              <a:t>History and Development </a:t>
            </a:r>
            <a:br>
              <a:rPr lang="en-US" sz="1400" dirty="0"/>
            </a:br>
            <a:endParaRPr lang="en-US" sz="1400" dirty="0"/>
          </a:p>
          <a:p>
            <a:pPr indent="-228600">
              <a:lnSpc>
                <a:spcPct val="90000"/>
              </a:lnSpc>
              <a:spcAft>
                <a:spcPts val="600"/>
              </a:spcAft>
              <a:buFont typeface="Arial" panose="020B0604020202020204" pitchFamily="34" charset="0"/>
              <a:buChar char="•"/>
            </a:pPr>
            <a:r>
              <a:rPr lang="en-US" sz="1200" dirty="0"/>
              <a:t>The idea for King Fahd International Airport (KFIA) began in the early 1980s when air traffic in the Eastern Province started to     grow rapidly.</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dirty="0"/>
              <a:t>Construction work officially started in 1983, led by the Saudi Ministry of Defense and Aviation.</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dirty="0"/>
              <a:t>The airport was built to replace Dhahran International Airport, which was becoming too small for the region’s needs.</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dirty="0"/>
              <a:t>KFIA was officially opened for commercial operations in November 1999.</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dirty="0"/>
              <a:t>Since its opening, it has become a symbol of Saudi Arabia’s modernization and progress in the aviation sector.</a:t>
            </a:r>
          </a:p>
          <a:p>
            <a:pPr indent="-228600">
              <a:lnSpc>
                <a:spcPct val="90000"/>
              </a:lnSpc>
              <a:spcAft>
                <a:spcPts val="600"/>
              </a:spcAft>
              <a:buFont typeface="Arial" panose="020B0604020202020204" pitchFamily="34" charset="0"/>
              <a:buChar char="•"/>
            </a:pPr>
            <a:endParaRPr lang="en-US" sz="1200" dirty="0"/>
          </a:p>
          <a:p>
            <a:pPr indent="-228600">
              <a:lnSpc>
                <a:spcPct val="90000"/>
              </a:lnSpc>
              <a:spcAft>
                <a:spcPts val="600"/>
              </a:spcAft>
              <a:buFont typeface="Arial" panose="020B0604020202020204" pitchFamily="34" charset="0"/>
              <a:buChar char="•"/>
            </a:pPr>
            <a:r>
              <a:rPr lang="en-US" sz="1200" dirty="0"/>
              <a:t>Continuous upgrades and expansions keep the airport in line with international standards and passenger expectations.</a:t>
            </a:r>
          </a:p>
        </p:txBody>
      </p:sp>
    </p:spTree>
    <p:extLst>
      <p:ext uri="{BB962C8B-B14F-4D97-AF65-F5344CB8AC3E}">
        <p14:creationId xmlns:p14="http://schemas.microsoft.com/office/powerpoint/2010/main" val="359071507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1EA1DAFF-CECA-492F-BFA1-22C64956B8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5" name="Oval 24">
              <a:extLst>
                <a:ext uri="{FF2B5EF4-FFF2-40B4-BE49-F238E27FC236}">
                  <a16:creationId xmlns:a16="http://schemas.microsoft.com/office/drawing/2014/main" id="{5D3D3744-142C-4653-90AB-546FE6B84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BC69CAC-820B-41BA-BFCA-79B45576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D205E7A-88AB-4C4B-B8D1-5A76AA878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D4286E9-8501-4EBF-874C-74897B4B6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45586ADC-910E-45C9-BAB4-CB0EFBEE5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AB594C5-5BB0-49AE-8AAC-AE40A6F8A3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5" name="Straight Connector 34">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15" name="Picture 14" descr="A building with many windows and a parking lot&#10;&#10;AI-generated content may be incorrect.">
            <a:extLst>
              <a:ext uri="{FF2B5EF4-FFF2-40B4-BE49-F238E27FC236}">
                <a16:creationId xmlns:a16="http://schemas.microsoft.com/office/drawing/2014/main" id="{CD842F80-131D-D94A-4A39-68A84721D63A}"/>
              </a:ext>
            </a:extLst>
          </p:cNvPr>
          <p:cNvPicPr>
            <a:picLocks noChangeAspect="1"/>
          </p:cNvPicPr>
          <p:nvPr/>
        </p:nvPicPr>
        <p:blipFill>
          <a:blip r:embed="rId2">
            <a:extLst>
              <a:ext uri="{28A0092B-C50C-407E-A947-70E740481C1C}">
                <a14:useLocalDpi xmlns:a14="http://schemas.microsoft.com/office/drawing/2010/main" val="0"/>
              </a:ext>
            </a:extLst>
          </a:blip>
          <a:srcRect l="4121" r="1" b="1"/>
          <a:stretch>
            <a:fillRect/>
          </a:stretch>
        </p:blipFill>
        <p:spPr>
          <a:xfrm>
            <a:off x="626590" y="317578"/>
            <a:ext cx="10851111" cy="3508437"/>
          </a:xfrm>
          <a:prstGeom prst="rect">
            <a:avLst/>
          </a:prstGeom>
        </p:spPr>
      </p:pic>
      <p:grpSp>
        <p:nvGrpSpPr>
          <p:cNvPr id="40" name="Group 39">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482489"/>
            <a:ext cx="304800" cy="429768"/>
            <a:chOff x="215328" y="-46937"/>
            <a:chExt cx="304800" cy="2773841"/>
          </a:xfrm>
        </p:grpSpPr>
        <p:cxnSp>
          <p:nvCxnSpPr>
            <p:cNvPr id="41" name="Straight Connector 40">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9" name="Straight Connector 48">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6A01081C-8F63-D729-770B-90794731C9CC}"/>
              </a:ext>
            </a:extLst>
          </p:cNvPr>
          <p:cNvSpPr txBox="1"/>
          <p:nvPr/>
        </p:nvSpPr>
        <p:spPr>
          <a:xfrm>
            <a:off x="5486080" y="4018143"/>
            <a:ext cx="5674105" cy="2129599"/>
          </a:xfrm>
          <a:prstGeom prst="rect">
            <a:avLst/>
          </a:prstGeom>
          <a:noFill/>
        </p:spPr>
        <p:txBody>
          <a:bodyPr vert="horz" lIns="91440" tIns="45720" rIns="91440" bIns="45720" rtlCol="0" anchor="t">
            <a:normAutofit fontScale="92500" lnSpcReduction="20000"/>
          </a:bodyPr>
          <a:lstStyle/>
          <a:p>
            <a:pPr algn="ctr">
              <a:lnSpc>
                <a:spcPct val="90000"/>
              </a:lnSpc>
              <a:spcAft>
                <a:spcPts val="600"/>
              </a:spcAft>
            </a:pPr>
            <a:r>
              <a:rPr lang="en-US" sz="1700" b="1" dirty="0">
                <a:solidFill>
                  <a:schemeClr val="bg1"/>
                </a:solidFill>
              </a:rPr>
              <a:t>World’s Largest by Area</a:t>
            </a:r>
          </a:p>
          <a:p>
            <a:pPr indent="-228600">
              <a:lnSpc>
                <a:spcPct val="90000"/>
              </a:lnSpc>
              <a:spcAft>
                <a:spcPts val="600"/>
              </a:spcAft>
              <a:buFont typeface="Arial" panose="020B0604020202020204" pitchFamily="34" charset="0"/>
              <a:buChar char="•"/>
            </a:pPr>
            <a:endParaRPr lang="en-US" sz="900" dirty="0">
              <a:solidFill>
                <a:schemeClr val="bg1"/>
              </a:solidFill>
            </a:endParaRPr>
          </a:p>
          <a:p>
            <a:pPr marL="285750" indent="-228600">
              <a:lnSpc>
                <a:spcPct val="90000"/>
              </a:lnSpc>
              <a:spcAft>
                <a:spcPts val="600"/>
              </a:spcAft>
              <a:buFont typeface="Arial" panose="020B0604020202020204" pitchFamily="34" charset="0"/>
              <a:buChar char="•"/>
            </a:pPr>
            <a:r>
              <a:rPr lang="en-US" sz="1200" dirty="0">
                <a:solidFill>
                  <a:schemeClr val="bg1"/>
                </a:solidFill>
              </a:rPr>
              <a:t>King Fahd International Airport is officially recognized as the largest airport in the world by land area, covering an enormous 780 square kilometers (301 square miles). This makes it even larger than the entire country of Bahrain, which highlights just how vast the airport truly is.</a:t>
            </a:r>
          </a:p>
          <a:p>
            <a:pPr marL="285750" indent="-228600">
              <a:lnSpc>
                <a:spcPct val="90000"/>
              </a:lnSpc>
              <a:spcAft>
                <a:spcPts val="600"/>
              </a:spcAft>
              <a:buFont typeface="Arial" panose="020B0604020202020204" pitchFamily="34" charset="0"/>
              <a:buChar char="•"/>
            </a:pPr>
            <a:endParaRPr lang="en-US" sz="1200" dirty="0">
              <a:solidFill>
                <a:schemeClr val="bg1"/>
              </a:solidFill>
            </a:endParaRPr>
          </a:p>
          <a:p>
            <a:pPr marL="285750" indent="-228600">
              <a:lnSpc>
                <a:spcPct val="90000"/>
              </a:lnSpc>
              <a:spcAft>
                <a:spcPts val="600"/>
              </a:spcAft>
              <a:buFont typeface="Arial" panose="020B0604020202020204" pitchFamily="34" charset="0"/>
              <a:buChar char="•"/>
            </a:pPr>
            <a:r>
              <a:rPr lang="en-US" sz="1200" dirty="0">
                <a:solidFill>
                  <a:schemeClr val="bg1"/>
                </a:solidFill>
              </a:rPr>
              <a:t>The massive area of the airport includes runways, passenger terminals, service buildings, roads, and large unused portions of land that are kept for future expansion.  </a:t>
            </a:r>
          </a:p>
          <a:p>
            <a:pPr marL="285750" indent="-228600">
              <a:lnSpc>
                <a:spcPct val="90000"/>
              </a:lnSpc>
              <a:spcAft>
                <a:spcPts val="600"/>
              </a:spcAft>
              <a:buFont typeface="Arial" panose="020B0604020202020204" pitchFamily="34" charset="0"/>
              <a:buChar char="•"/>
            </a:pPr>
            <a:endParaRPr lang="en-US" sz="1200" dirty="0">
              <a:solidFill>
                <a:schemeClr val="bg1"/>
              </a:solidFill>
            </a:endParaRPr>
          </a:p>
          <a:p>
            <a:pPr marL="285750" indent="-228600">
              <a:lnSpc>
                <a:spcPct val="90000"/>
              </a:lnSpc>
              <a:spcAft>
                <a:spcPts val="600"/>
              </a:spcAft>
              <a:buFont typeface="Arial" panose="020B0604020202020204" pitchFamily="34" charset="0"/>
              <a:buChar char="•"/>
            </a:pPr>
            <a:r>
              <a:rPr lang="en-US" sz="1200" dirty="0">
                <a:solidFill>
                  <a:schemeClr val="bg1"/>
                </a:solidFill>
              </a:rPr>
              <a:t>The spacious design of King Fahd International Airport reflects Saudi Arabia’s forward-thinking approach, ensuring that it will continue to grow and adapt as global air travel increases in the future.</a:t>
            </a:r>
          </a:p>
        </p:txBody>
      </p:sp>
    </p:spTree>
    <p:extLst>
      <p:ext uri="{BB962C8B-B14F-4D97-AF65-F5344CB8AC3E}">
        <p14:creationId xmlns:p14="http://schemas.microsoft.com/office/powerpoint/2010/main" val="300152112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map of a city with a plane and a map of a city&#10;&#10;AI-generated content may be incorrect.">
            <a:extLst>
              <a:ext uri="{FF2B5EF4-FFF2-40B4-BE49-F238E27FC236}">
                <a16:creationId xmlns:a16="http://schemas.microsoft.com/office/drawing/2014/main" id="{FCF223EE-5906-4B9C-C3E0-50A193EBB0D4}"/>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5987" b="18256"/>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E83D90F7-954C-464B-CB92-1745D9B6014E}"/>
              </a:ext>
            </a:extLst>
          </p:cNvPr>
          <p:cNvSpPr txBox="1"/>
          <p:nvPr/>
        </p:nvSpPr>
        <p:spPr>
          <a:xfrm>
            <a:off x="838200" y="1825625"/>
            <a:ext cx="10515600" cy="4351338"/>
          </a:xfrm>
          <a:prstGeom prst="rect">
            <a:avLst/>
          </a:prstGeom>
        </p:spPr>
        <p:txBody>
          <a:bodyPr vert="horz" lIns="91440" tIns="45720" rIns="91440" bIns="45720" rtlCol="0">
            <a:normAutofit/>
          </a:bodyPr>
          <a:lstStyle/>
          <a:p>
            <a:pPr algn="ctr">
              <a:lnSpc>
                <a:spcPct val="90000"/>
              </a:lnSpc>
              <a:spcAft>
                <a:spcPts val="600"/>
              </a:spcAft>
            </a:pPr>
            <a:r>
              <a:rPr lang="en-US" sz="1500" b="1" dirty="0">
                <a:solidFill>
                  <a:srgbClr val="FFFFFF"/>
                </a:solidFill>
              </a:rPr>
              <a:t>Location and Connectivity</a:t>
            </a:r>
          </a:p>
          <a:p>
            <a:pPr indent="-228600">
              <a:lnSpc>
                <a:spcPct val="90000"/>
              </a:lnSpc>
              <a:spcAft>
                <a:spcPts val="600"/>
              </a:spcAft>
              <a:buFont typeface="Arial" panose="020B0604020202020204" pitchFamily="34" charset="0"/>
              <a:buChar char="•"/>
            </a:pPr>
            <a:endParaRPr lang="en-US" sz="1500" dirty="0">
              <a:solidFill>
                <a:srgbClr val="FFFFFF"/>
              </a:solidFill>
            </a:endParaRPr>
          </a:p>
          <a:p>
            <a:pPr indent="-228600">
              <a:lnSpc>
                <a:spcPct val="90000"/>
              </a:lnSpc>
              <a:spcAft>
                <a:spcPts val="600"/>
              </a:spcAft>
              <a:buFont typeface="Arial" panose="020B0604020202020204" pitchFamily="34" charset="0"/>
              <a:buChar char="•"/>
            </a:pPr>
            <a:r>
              <a:rPr lang="en-US" sz="1500" dirty="0">
                <a:solidFill>
                  <a:srgbClr val="FFFFFF"/>
                </a:solidFill>
              </a:rPr>
              <a:t>King Fahd International Airport is located approximately 20 kilometers northwest of Dammam, in the Eastern Province of Saudi Arabia.</a:t>
            </a:r>
          </a:p>
          <a:p>
            <a:pPr indent="-228600">
              <a:lnSpc>
                <a:spcPct val="90000"/>
              </a:lnSpc>
              <a:spcAft>
                <a:spcPts val="600"/>
              </a:spcAft>
              <a:buFont typeface="Arial" panose="020B0604020202020204" pitchFamily="34" charset="0"/>
              <a:buChar char="•"/>
            </a:pPr>
            <a:endParaRPr lang="en-US" sz="1500" dirty="0">
              <a:solidFill>
                <a:srgbClr val="FFFFFF"/>
              </a:solidFill>
            </a:endParaRPr>
          </a:p>
          <a:p>
            <a:pPr indent="-228600">
              <a:lnSpc>
                <a:spcPct val="90000"/>
              </a:lnSpc>
              <a:spcAft>
                <a:spcPts val="600"/>
              </a:spcAft>
              <a:buFont typeface="Arial" panose="020B0604020202020204" pitchFamily="34" charset="0"/>
              <a:buChar char="•"/>
            </a:pPr>
            <a:r>
              <a:rPr lang="en-US" sz="1500" dirty="0">
                <a:solidFill>
                  <a:srgbClr val="FFFFFF"/>
                </a:solidFill>
              </a:rPr>
              <a:t>It serves major cities including Dammam, Dhahran, Al Khobar, and Jubail, making it an important regional hub.</a:t>
            </a:r>
          </a:p>
          <a:p>
            <a:pPr indent="-228600">
              <a:lnSpc>
                <a:spcPct val="90000"/>
              </a:lnSpc>
              <a:spcAft>
                <a:spcPts val="600"/>
              </a:spcAft>
              <a:buFont typeface="Arial" panose="020B0604020202020204" pitchFamily="34" charset="0"/>
              <a:buChar char="•"/>
            </a:pPr>
            <a:endParaRPr lang="en-US" sz="1500" dirty="0">
              <a:solidFill>
                <a:srgbClr val="FFFFFF"/>
              </a:solidFill>
            </a:endParaRPr>
          </a:p>
          <a:p>
            <a:pPr indent="-228600">
              <a:lnSpc>
                <a:spcPct val="90000"/>
              </a:lnSpc>
              <a:spcAft>
                <a:spcPts val="600"/>
              </a:spcAft>
              <a:buFont typeface="Arial" panose="020B0604020202020204" pitchFamily="34" charset="0"/>
              <a:buChar char="•"/>
            </a:pPr>
            <a:r>
              <a:rPr lang="en-US" sz="1500" dirty="0">
                <a:solidFill>
                  <a:srgbClr val="FFFFFF"/>
                </a:solidFill>
              </a:rPr>
              <a:t>The airport is connected via modern highways and road networks, ensuring quick and easy access to all terminals.</a:t>
            </a:r>
          </a:p>
          <a:p>
            <a:pPr indent="-228600">
              <a:lnSpc>
                <a:spcPct val="90000"/>
              </a:lnSpc>
              <a:spcAft>
                <a:spcPts val="600"/>
              </a:spcAft>
              <a:buFont typeface="Arial" panose="020B0604020202020204" pitchFamily="34" charset="0"/>
              <a:buChar char="•"/>
            </a:pPr>
            <a:endParaRPr lang="en-US" sz="1500" dirty="0">
              <a:solidFill>
                <a:srgbClr val="FFFFFF"/>
              </a:solidFill>
            </a:endParaRPr>
          </a:p>
          <a:p>
            <a:pPr indent="-228600">
              <a:lnSpc>
                <a:spcPct val="90000"/>
              </a:lnSpc>
              <a:spcAft>
                <a:spcPts val="600"/>
              </a:spcAft>
              <a:buFont typeface="Arial" panose="020B0604020202020204" pitchFamily="34" charset="0"/>
              <a:buChar char="•"/>
            </a:pPr>
            <a:r>
              <a:rPr lang="en-US" sz="1500" dirty="0">
                <a:solidFill>
                  <a:srgbClr val="FFFFFF"/>
                </a:solidFill>
              </a:rPr>
              <a:t>Its location supports efficient cargo transport, linking industrial areas, oil companies, and commercial centers to domestic and international destinations.</a:t>
            </a:r>
          </a:p>
          <a:p>
            <a:pPr indent="-228600">
              <a:lnSpc>
                <a:spcPct val="90000"/>
              </a:lnSpc>
              <a:spcAft>
                <a:spcPts val="600"/>
              </a:spcAft>
              <a:buFont typeface="Arial" panose="020B0604020202020204" pitchFamily="34" charset="0"/>
              <a:buChar char="•"/>
            </a:pPr>
            <a:endParaRPr lang="en-US" sz="1500" dirty="0">
              <a:solidFill>
                <a:srgbClr val="FFFFFF"/>
              </a:solidFill>
            </a:endParaRPr>
          </a:p>
          <a:p>
            <a:pPr indent="-228600">
              <a:lnSpc>
                <a:spcPct val="90000"/>
              </a:lnSpc>
              <a:spcAft>
                <a:spcPts val="600"/>
              </a:spcAft>
              <a:buFont typeface="Arial" panose="020B0604020202020204" pitchFamily="34" charset="0"/>
              <a:buChar char="•"/>
            </a:pPr>
            <a:r>
              <a:rPr lang="en-US" sz="1500" dirty="0">
                <a:solidFill>
                  <a:srgbClr val="FFFFFF"/>
                </a:solidFill>
              </a:rPr>
              <a:t>KFIA’s connectivity makes it a key player in the movement of passengers and goods throughout Saudi Arabia.</a:t>
            </a:r>
          </a:p>
        </p:txBody>
      </p:sp>
    </p:spTree>
    <p:extLst>
      <p:ext uri="{BB962C8B-B14F-4D97-AF65-F5344CB8AC3E}">
        <p14:creationId xmlns:p14="http://schemas.microsoft.com/office/powerpoint/2010/main" val="200438322"/>
      </p:ext>
    </p:extLst>
  </p:cSld>
  <p:clrMapOvr>
    <a:overrideClrMapping bg1="dk1" tx1="lt1" bg2="dk2" tx2="lt2" accent1="accent1" accent2="accent2" accent3="accent3" accent4="accent4" accent5="accent5" accent6="accent6" hlink="hlink" folHlink="folHlink"/>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1"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C251833-30E2-D763-5B38-2AA9B8334663}"/>
              </a:ext>
            </a:extLst>
          </p:cNvPr>
          <p:cNvSpPr txBox="1"/>
          <p:nvPr/>
        </p:nvSpPr>
        <p:spPr>
          <a:xfrm>
            <a:off x="897769" y="1909192"/>
            <a:ext cx="4586513" cy="3647710"/>
          </a:xfrm>
          <a:prstGeom prst="rect">
            <a:avLst/>
          </a:prstGeom>
        </p:spPr>
        <p:txBody>
          <a:bodyPr vert="horz" lIns="91440" tIns="45720" rIns="91440" bIns="45720" rtlCol="0">
            <a:normAutofit lnSpcReduction="10000"/>
          </a:bodyPr>
          <a:lstStyle/>
          <a:p>
            <a:pPr algn="ctr">
              <a:lnSpc>
                <a:spcPct val="90000"/>
              </a:lnSpc>
              <a:spcAft>
                <a:spcPts val="600"/>
              </a:spcAft>
            </a:pPr>
            <a:r>
              <a:rPr lang="en-US" sz="1400" b="1" dirty="0">
                <a:solidFill>
                  <a:schemeClr val="bg1"/>
                </a:solidFill>
              </a:rPr>
              <a:t>Facilities and Terminals</a:t>
            </a:r>
          </a:p>
          <a:p>
            <a:pPr indent="-228600">
              <a:lnSpc>
                <a:spcPct val="90000"/>
              </a:lnSpc>
              <a:spcAft>
                <a:spcPts val="600"/>
              </a:spcAft>
              <a:buFont typeface="Arial" panose="020B0604020202020204" pitchFamily="34" charset="0"/>
              <a:buChar char="•"/>
            </a:pPr>
            <a:endParaRPr lang="en-US" sz="700" dirty="0">
              <a:solidFill>
                <a:schemeClr val="bg1"/>
              </a:solidFill>
            </a:endParaRPr>
          </a:p>
          <a:p>
            <a:pPr indent="-228600">
              <a:lnSpc>
                <a:spcPct val="90000"/>
              </a:lnSpc>
              <a:spcAft>
                <a:spcPts val="600"/>
              </a:spcAft>
              <a:buFont typeface="Arial" panose="020B0604020202020204" pitchFamily="34" charset="0"/>
              <a:buChar char="•"/>
            </a:pPr>
            <a:endParaRPr lang="en-US" sz="7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King Fahd International Airport has three main terminals:</a:t>
            </a:r>
          </a:p>
          <a:p>
            <a:pPr marL="285750" indent="-228600">
              <a:lnSpc>
                <a:spcPct val="90000"/>
              </a:lnSpc>
              <a:spcAft>
                <a:spcPts val="600"/>
              </a:spcAft>
              <a:buFont typeface="Arial" panose="020B0604020202020204" pitchFamily="34" charset="0"/>
              <a:buChar char="•"/>
            </a:pPr>
            <a:endParaRPr lang="en-US" sz="8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Main Passenger Terminal – handles domestic and international flights.</a:t>
            </a:r>
          </a:p>
          <a:p>
            <a:pPr marL="285750" indent="-228600">
              <a:lnSpc>
                <a:spcPct val="90000"/>
              </a:lnSpc>
              <a:spcAft>
                <a:spcPts val="600"/>
              </a:spcAft>
              <a:buFont typeface="Arial" panose="020B0604020202020204" pitchFamily="34" charset="0"/>
              <a:buChar char="•"/>
            </a:pPr>
            <a:endParaRPr lang="en-US" sz="8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Royal Terminal – reserved for the Saudi royal family, VIPs, and government officials.</a:t>
            </a:r>
          </a:p>
          <a:p>
            <a:pPr marL="285750" indent="-228600">
              <a:lnSpc>
                <a:spcPct val="90000"/>
              </a:lnSpc>
              <a:spcAft>
                <a:spcPts val="600"/>
              </a:spcAft>
              <a:buFont typeface="Arial" panose="020B0604020202020204" pitchFamily="34" charset="0"/>
              <a:buChar char="•"/>
            </a:pPr>
            <a:endParaRPr lang="en-US" sz="8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Aramco Terminal – used exclusively by Saudi Aramco employees.</a:t>
            </a:r>
          </a:p>
          <a:p>
            <a:pPr marL="285750" indent="-228600">
              <a:lnSpc>
                <a:spcPct val="90000"/>
              </a:lnSpc>
              <a:spcAft>
                <a:spcPts val="600"/>
              </a:spcAft>
              <a:buFont typeface="Arial" panose="020B0604020202020204" pitchFamily="34" charset="0"/>
              <a:buChar char="•"/>
            </a:pPr>
            <a:endParaRPr lang="en-US" sz="8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The airport includes modern lounges, restaurants, cafes, and shopping areas for travelers’ convenience.</a:t>
            </a:r>
          </a:p>
          <a:p>
            <a:pPr marL="285750" indent="-228600">
              <a:lnSpc>
                <a:spcPct val="90000"/>
              </a:lnSpc>
              <a:spcAft>
                <a:spcPts val="600"/>
              </a:spcAft>
              <a:buFont typeface="Arial" panose="020B0604020202020204" pitchFamily="34" charset="0"/>
              <a:buChar char="•"/>
            </a:pPr>
            <a:endParaRPr lang="en-US" sz="8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It features a multi-level parking system capable of accommodating thousands of vehicles.</a:t>
            </a:r>
          </a:p>
          <a:p>
            <a:pPr marL="285750" indent="-228600">
              <a:lnSpc>
                <a:spcPct val="90000"/>
              </a:lnSpc>
              <a:spcAft>
                <a:spcPts val="600"/>
              </a:spcAft>
              <a:buFont typeface="Arial" panose="020B0604020202020204" pitchFamily="34" charset="0"/>
              <a:buChar char="•"/>
            </a:pPr>
            <a:endParaRPr lang="en-US" sz="8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Efficient road networks and transportation services connect the terminals for smooth passenger movement.</a:t>
            </a:r>
          </a:p>
          <a:p>
            <a:pPr marL="285750" indent="-228600">
              <a:lnSpc>
                <a:spcPct val="90000"/>
              </a:lnSpc>
              <a:spcAft>
                <a:spcPts val="600"/>
              </a:spcAft>
              <a:buFont typeface="Arial" panose="020B0604020202020204" pitchFamily="34" charset="0"/>
              <a:buChar char="•"/>
            </a:pPr>
            <a:endParaRPr lang="en-US" sz="800" dirty="0">
              <a:solidFill>
                <a:schemeClr val="bg1"/>
              </a:solidFill>
            </a:endParaRPr>
          </a:p>
          <a:p>
            <a:pPr marL="285750" indent="-228600">
              <a:lnSpc>
                <a:spcPct val="90000"/>
              </a:lnSpc>
              <a:spcAft>
                <a:spcPts val="600"/>
              </a:spcAft>
              <a:buFont typeface="Arial" panose="020B0604020202020204" pitchFamily="34" charset="0"/>
              <a:buChar char="•"/>
            </a:pPr>
            <a:r>
              <a:rPr lang="en-US" sz="800" dirty="0">
                <a:solidFill>
                  <a:schemeClr val="bg1"/>
                </a:solidFill>
              </a:rPr>
              <a:t>The airport is equipped with advanced security, baggage handling, and passenger facilities to ensure a comfortable travel experience.</a:t>
            </a:r>
          </a:p>
        </p:txBody>
      </p:sp>
      <p:cxnSp>
        <p:nvCxnSpPr>
          <p:cNvPr id="13"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Picture 3" descr="A large store with lots of people&#10;&#10;AI-generated content may be incorrect.">
            <a:extLst>
              <a:ext uri="{FF2B5EF4-FFF2-40B4-BE49-F238E27FC236}">
                <a16:creationId xmlns:a16="http://schemas.microsoft.com/office/drawing/2014/main" id="{B67F92DF-58F8-D834-1FD5-D7892E6F7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453" y="1835284"/>
            <a:ext cx="5666547" cy="3187432"/>
          </a:xfrm>
          <a:prstGeom prst="rect">
            <a:avLst/>
          </a:prstGeom>
        </p:spPr>
      </p:pic>
    </p:spTree>
    <p:extLst>
      <p:ext uri="{BB962C8B-B14F-4D97-AF65-F5344CB8AC3E}">
        <p14:creationId xmlns:p14="http://schemas.microsoft.com/office/powerpoint/2010/main" val="19816025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Picture 3" descr="A large airplane taking off&#10;&#10;AI-generated content may be incorrect.">
            <a:extLst>
              <a:ext uri="{FF2B5EF4-FFF2-40B4-BE49-F238E27FC236}">
                <a16:creationId xmlns:a16="http://schemas.microsoft.com/office/drawing/2014/main" id="{389A99FC-524E-560B-A03F-931E3EEAA48C}"/>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l="6004" r="10441" b="1"/>
          <a:stretch>
            <a:fillRect/>
          </a:stretch>
        </p:blipFill>
        <p:spPr>
          <a:xfrm>
            <a:off x="-1" y="10"/>
            <a:ext cx="12192001" cy="6857990"/>
          </a:xfrm>
          <a:prstGeom prst="rect">
            <a:avLst/>
          </a:prstGeom>
        </p:spPr>
      </p:pic>
      <p:sp>
        <p:nvSpPr>
          <p:cNvPr id="8" name="TextBox 7">
            <a:extLst>
              <a:ext uri="{FF2B5EF4-FFF2-40B4-BE49-F238E27FC236}">
                <a16:creationId xmlns:a16="http://schemas.microsoft.com/office/drawing/2014/main" id="{4D84115C-67B0-57FB-66AD-3FA8C90C4027}"/>
              </a:ext>
            </a:extLst>
          </p:cNvPr>
          <p:cNvSpPr txBox="1"/>
          <p:nvPr/>
        </p:nvSpPr>
        <p:spPr>
          <a:xfrm>
            <a:off x="491356" y="1392977"/>
            <a:ext cx="5170861" cy="4072043"/>
          </a:xfrm>
          <a:prstGeom prst="rect">
            <a:avLst/>
          </a:prstGeom>
        </p:spPr>
        <p:txBody>
          <a:bodyPr vert="horz" lIns="91440" tIns="45720" rIns="91440" bIns="45720" rtlCol="0">
            <a:normAutofit/>
          </a:bodyPr>
          <a:lstStyle/>
          <a:p>
            <a:pPr algn="ctr">
              <a:lnSpc>
                <a:spcPct val="90000"/>
              </a:lnSpc>
              <a:spcAft>
                <a:spcPts val="600"/>
              </a:spcAft>
            </a:pPr>
            <a:r>
              <a:rPr lang="en-US" b="1" dirty="0">
                <a:solidFill>
                  <a:srgbClr val="FFFFFF"/>
                </a:solidFill>
              </a:rPr>
              <a:t>Airlines and Operations</a:t>
            </a:r>
          </a:p>
          <a:p>
            <a:pPr indent="-228600">
              <a:lnSpc>
                <a:spcPct val="90000"/>
              </a:lnSpc>
              <a:spcAft>
                <a:spcPts val="600"/>
              </a:spcAft>
              <a:buFont typeface="Arial" panose="020B0604020202020204" pitchFamily="34" charset="0"/>
              <a:buChar char="•"/>
            </a:pPr>
            <a:endParaRPr lang="en-US" sz="1300" dirty="0">
              <a:solidFill>
                <a:srgbClr val="FFFFFF"/>
              </a:solidFill>
            </a:endParaRPr>
          </a:p>
          <a:p>
            <a:pPr indent="-228600">
              <a:lnSpc>
                <a:spcPct val="90000"/>
              </a:lnSpc>
              <a:spcAft>
                <a:spcPts val="600"/>
              </a:spcAft>
              <a:buFont typeface="Arial" panose="020B0604020202020204" pitchFamily="34" charset="0"/>
              <a:buChar char="•"/>
            </a:pPr>
            <a:r>
              <a:rPr lang="en-US" sz="1300" dirty="0">
                <a:solidFill>
                  <a:srgbClr val="FFFFFF"/>
                </a:solidFill>
              </a:rPr>
              <a:t>King Fahd International Airport serves as a major hub for Saudia (Saudi Arabian Airlines) and </a:t>
            </a:r>
            <a:r>
              <a:rPr lang="en-US" sz="1300" dirty="0" err="1">
                <a:solidFill>
                  <a:srgbClr val="FFFFFF"/>
                </a:solidFill>
              </a:rPr>
              <a:t>Flynas</a:t>
            </a:r>
            <a:r>
              <a:rPr lang="en-US" sz="1300" dirty="0">
                <a:solidFill>
                  <a:srgbClr val="FFFFFF"/>
                </a:solidFill>
              </a:rPr>
              <a:t>.</a:t>
            </a:r>
          </a:p>
          <a:p>
            <a:pPr indent="-228600">
              <a:lnSpc>
                <a:spcPct val="90000"/>
              </a:lnSpc>
              <a:spcAft>
                <a:spcPts val="600"/>
              </a:spcAft>
              <a:buFont typeface="Arial" panose="020B0604020202020204" pitchFamily="34" charset="0"/>
              <a:buChar char="•"/>
            </a:pPr>
            <a:endParaRPr lang="en-US" sz="1300" dirty="0">
              <a:solidFill>
                <a:srgbClr val="FFFFFF"/>
              </a:solidFill>
            </a:endParaRPr>
          </a:p>
          <a:p>
            <a:pPr indent="-228600">
              <a:lnSpc>
                <a:spcPct val="90000"/>
              </a:lnSpc>
              <a:spcAft>
                <a:spcPts val="600"/>
              </a:spcAft>
              <a:buFont typeface="Arial" panose="020B0604020202020204" pitchFamily="34" charset="0"/>
              <a:buChar char="•"/>
            </a:pPr>
            <a:r>
              <a:rPr lang="en-US" sz="1300" dirty="0">
                <a:solidFill>
                  <a:srgbClr val="FFFFFF"/>
                </a:solidFill>
              </a:rPr>
              <a:t>The airport offers flights to numerous international destinations, including Dubai, London, Riyadh, and Jeddah.</a:t>
            </a:r>
          </a:p>
          <a:p>
            <a:pPr indent="-228600">
              <a:lnSpc>
                <a:spcPct val="90000"/>
              </a:lnSpc>
              <a:spcAft>
                <a:spcPts val="600"/>
              </a:spcAft>
              <a:buFont typeface="Arial" panose="020B0604020202020204" pitchFamily="34" charset="0"/>
              <a:buChar char="•"/>
            </a:pPr>
            <a:endParaRPr lang="en-US" sz="1300" dirty="0">
              <a:solidFill>
                <a:srgbClr val="FFFFFF"/>
              </a:solidFill>
            </a:endParaRPr>
          </a:p>
          <a:p>
            <a:pPr indent="-228600">
              <a:lnSpc>
                <a:spcPct val="90000"/>
              </a:lnSpc>
              <a:spcAft>
                <a:spcPts val="600"/>
              </a:spcAft>
              <a:buFont typeface="Arial" panose="020B0604020202020204" pitchFamily="34" charset="0"/>
              <a:buChar char="•"/>
            </a:pPr>
            <a:r>
              <a:rPr lang="en-US" sz="1300" dirty="0">
                <a:solidFill>
                  <a:srgbClr val="FFFFFF"/>
                </a:solidFill>
              </a:rPr>
              <a:t>It handles millions of passengers annually, making it one of the busiest airports in Saudi Arabia.</a:t>
            </a:r>
          </a:p>
          <a:p>
            <a:pPr indent="-228600">
              <a:lnSpc>
                <a:spcPct val="90000"/>
              </a:lnSpc>
              <a:spcAft>
                <a:spcPts val="600"/>
              </a:spcAft>
              <a:buFont typeface="Arial" panose="020B0604020202020204" pitchFamily="34" charset="0"/>
              <a:buChar char="•"/>
            </a:pPr>
            <a:endParaRPr lang="en-US" sz="1300" dirty="0">
              <a:solidFill>
                <a:srgbClr val="FFFFFF"/>
              </a:solidFill>
            </a:endParaRPr>
          </a:p>
          <a:p>
            <a:pPr indent="-228600">
              <a:lnSpc>
                <a:spcPct val="90000"/>
              </a:lnSpc>
              <a:spcAft>
                <a:spcPts val="600"/>
              </a:spcAft>
              <a:buFont typeface="Arial" panose="020B0604020202020204" pitchFamily="34" charset="0"/>
              <a:buChar char="•"/>
            </a:pPr>
            <a:r>
              <a:rPr lang="en-US" sz="1300" dirty="0">
                <a:solidFill>
                  <a:srgbClr val="FFFFFF"/>
                </a:solidFill>
              </a:rPr>
              <a:t>KFIA also supports cargo operations, linking industrial areas and commercial centers to global markets.</a:t>
            </a:r>
          </a:p>
          <a:p>
            <a:pPr indent="-228600">
              <a:lnSpc>
                <a:spcPct val="90000"/>
              </a:lnSpc>
              <a:spcAft>
                <a:spcPts val="600"/>
              </a:spcAft>
              <a:buFont typeface="Arial" panose="020B0604020202020204" pitchFamily="34" charset="0"/>
              <a:buChar char="•"/>
            </a:pPr>
            <a:endParaRPr lang="en-US" sz="1300" dirty="0">
              <a:solidFill>
                <a:srgbClr val="FFFFFF"/>
              </a:solidFill>
            </a:endParaRPr>
          </a:p>
          <a:p>
            <a:pPr indent="-228600">
              <a:lnSpc>
                <a:spcPct val="90000"/>
              </a:lnSpc>
              <a:spcAft>
                <a:spcPts val="600"/>
              </a:spcAft>
              <a:buFont typeface="Arial" panose="020B0604020202020204" pitchFamily="34" charset="0"/>
              <a:buChar char="•"/>
            </a:pPr>
            <a:r>
              <a:rPr lang="en-US" sz="1300" dirty="0">
                <a:solidFill>
                  <a:srgbClr val="FFFFFF"/>
                </a:solidFill>
              </a:rPr>
              <a:t>The airport ensures efficient flight scheduling, advanced air traffic management, and modern passenger services for a smooth travel experience.</a:t>
            </a:r>
          </a:p>
        </p:txBody>
      </p:sp>
    </p:spTree>
    <p:extLst>
      <p:ext uri="{BB962C8B-B14F-4D97-AF65-F5344CB8AC3E}">
        <p14:creationId xmlns:p14="http://schemas.microsoft.com/office/powerpoint/2010/main" val="16961661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close-up of a thank you note&#10;&#10;AI-generated content may be incorrect.">
            <a:extLst>
              <a:ext uri="{FF2B5EF4-FFF2-40B4-BE49-F238E27FC236}">
                <a16:creationId xmlns:a16="http://schemas.microsoft.com/office/drawing/2014/main" id="{06AC5BC9-FF3F-5FF4-371D-420877024980}"/>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6276" b="13952"/>
          <a:stretch>
            <a:fillRect/>
          </a:stretch>
        </p:blipFill>
        <p:spPr>
          <a:xfrm>
            <a:off x="20" y="1282"/>
            <a:ext cx="12191980" cy="6856718"/>
          </a:xfrm>
          <a:prstGeom prst="rect">
            <a:avLst/>
          </a:prstGeom>
        </p:spPr>
      </p:pic>
    </p:spTree>
    <p:extLst>
      <p:ext uri="{BB962C8B-B14F-4D97-AF65-F5344CB8AC3E}">
        <p14:creationId xmlns:p14="http://schemas.microsoft.com/office/powerpoint/2010/main" val="11958482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678</Words>
  <Application>Microsoft Office PowerPoint</Application>
  <PresentationFormat>Widescreen</PresentationFormat>
  <Paragraphs>75</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Bell MT</vt:lpstr>
      <vt:lpstr>Calibri</vt:lpstr>
      <vt:lpstr>Office Theme</vt:lpstr>
      <vt:lpstr>King Fahd International Airport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Khalifa Shoaib</dc:creator>
  <cp:lastModifiedBy>LAB-5</cp:lastModifiedBy>
  <cp:revision>2</cp:revision>
  <dcterms:created xsi:type="dcterms:W3CDTF">2025-10-28T04:14:47Z</dcterms:created>
  <dcterms:modified xsi:type="dcterms:W3CDTF">2025-10-28T06:13:46Z</dcterms:modified>
</cp:coreProperties>
</file>